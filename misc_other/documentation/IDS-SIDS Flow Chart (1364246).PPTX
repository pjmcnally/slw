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256" r:id="rId2"/>
  </p:sldIdLst>
  <p:sldSz cx="6858000" cy="9144000" type="letter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12" y="9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B7A315-CCD3-4076-8A8B-D0924965D9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0459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5D22AA-959A-442E-990D-FDFB4A9CE6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3694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61964E-1AB5-4A5B-A2E6-A631F4E1C3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5339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20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160DC0-830D-4BA1-B78C-7E70E60FB2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7248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F48093-9CF4-48C7-B8C3-A4439E291A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071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6C893F-2B63-4A27-8168-09685FE366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5060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231DB0-C0D1-453D-B0B6-89C01E26BC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7028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CA07F-323D-43E3-B6BE-B791AE5D31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629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7735A8-644D-4ED7-AF3B-ACF248D4D7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067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6A79AC-0EC9-4EFA-BFDD-309FFABD6F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82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86325" y="812800"/>
            <a:ext cx="1457325" cy="7315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812800"/>
            <a:ext cx="4219575" cy="7315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111A0B-685B-4650-A9FC-697BCB3530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7204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12800"/>
            <a:ext cx="58293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641600"/>
            <a:ext cx="58293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31200"/>
            <a:ext cx="14287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31200"/>
            <a:ext cx="21717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31200"/>
            <a:ext cx="14287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70A5B6F-3AAC-43CD-96B8-B7C855CEDC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/>
          <p:cNvSpPr>
            <a:spLocks noChangeArrowheads="1"/>
          </p:cNvSpPr>
          <p:nvPr/>
        </p:nvSpPr>
        <p:spPr bwMode="auto">
          <a:xfrm>
            <a:off x="1872349" y="126015"/>
            <a:ext cx="4876800" cy="338137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dirty="0"/>
              <a:t>How to get an IDS considered under 37 CFR 1.97</a:t>
            </a:r>
          </a:p>
        </p:txBody>
      </p:sp>
      <p:sp>
        <p:nvSpPr>
          <p:cNvPr id="2051" name="Rectangle 26"/>
          <p:cNvSpPr>
            <a:spLocks noChangeArrowheads="1"/>
          </p:cNvSpPr>
          <p:nvPr/>
        </p:nvSpPr>
        <p:spPr bwMode="auto">
          <a:xfrm>
            <a:off x="4005263" y="7566025"/>
            <a:ext cx="11430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Withdraw from issue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under 37 CFR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§ 1.313(b)(5)</a:t>
            </a:r>
          </a:p>
        </p:txBody>
      </p:sp>
      <p:sp>
        <p:nvSpPr>
          <p:cNvPr id="2052" name="Text Box 90"/>
          <p:cNvSpPr txBox="1">
            <a:spLocks noChangeArrowheads="1"/>
          </p:cNvSpPr>
          <p:nvPr/>
        </p:nvSpPr>
        <p:spPr bwMode="auto">
          <a:xfrm>
            <a:off x="868363" y="5995988"/>
            <a:ext cx="364202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 dirty="0" smtClean="0"/>
              <a:t>Yes</a:t>
            </a:r>
            <a:endParaRPr lang="en-US" altLang="en-US" sz="900" dirty="0"/>
          </a:p>
        </p:txBody>
      </p:sp>
      <p:sp>
        <p:nvSpPr>
          <p:cNvPr id="2053" name="Text Box 101"/>
          <p:cNvSpPr txBox="1">
            <a:spLocks noChangeArrowheads="1"/>
          </p:cNvSpPr>
          <p:nvPr/>
        </p:nvSpPr>
        <p:spPr bwMode="auto">
          <a:xfrm>
            <a:off x="3668712" y="8102601"/>
            <a:ext cx="297656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 dirty="0"/>
              <a:t>Please note that while filing under 1.97(e)(2) is possible it is STRONGLY NOT </a:t>
            </a:r>
            <a:r>
              <a:rPr lang="en-US" altLang="en-US" sz="900" dirty="0" smtClean="0"/>
              <a:t>RECOMMENDED.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9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900" dirty="0" smtClean="0"/>
              <a:t>“Art” in the context above means “any information that is or may be material to patentability.</a:t>
            </a:r>
          </a:p>
          <a:p>
            <a:pPr algn="r">
              <a:spcBef>
                <a:spcPct val="0"/>
              </a:spcBef>
              <a:buFontTx/>
              <a:buNone/>
            </a:pPr>
            <a:r>
              <a:rPr lang="en-US" altLang="en-US" sz="900" dirty="0" smtClean="0"/>
              <a:t> WD# 1364246 - </a:t>
            </a:r>
            <a:r>
              <a:rPr lang="en-US" altLang="en-US" sz="900" smtClean="0"/>
              <a:t>Updated 03-15-17</a:t>
            </a:r>
            <a:endParaRPr lang="en-US" altLang="en-US" sz="900" dirty="0"/>
          </a:p>
        </p:txBody>
      </p:sp>
      <p:sp>
        <p:nvSpPr>
          <p:cNvPr id="2054" name="AutoShape 13"/>
          <p:cNvSpPr>
            <a:spLocks noChangeAspect="1" noChangeArrowheads="1"/>
          </p:cNvSpPr>
          <p:nvPr/>
        </p:nvSpPr>
        <p:spPr bwMode="auto">
          <a:xfrm>
            <a:off x="341313" y="2170113"/>
            <a:ext cx="1189037" cy="1189037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Filed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before Final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Office Action or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Notice of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Allowance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?</a:t>
            </a:r>
          </a:p>
        </p:txBody>
      </p:sp>
      <p:sp>
        <p:nvSpPr>
          <p:cNvPr id="2055" name="AutoShape 9"/>
          <p:cNvSpPr>
            <a:spLocks noChangeArrowheads="1"/>
          </p:cNvSpPr>
          <p:nvPr/>
        </p:nvSpPr>
        <p:spPr bwMode="auto">
          <a:xfrm>
            <a:off x="339725" y="674688"/>
            <a:ext cx="1189038" cy="1189037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Filed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 within 3 mos.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 of filing or before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 First Office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 Action?</a:t>
            </a:r>
          </a:p>
        </p:txBody>
      </p:sp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2382838" y="1158875"/>
            <a:ext cx="914400" cy="228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900" dirty="0" smtClean="0"/>
              <a:t>IDS Considered</a:t>
            </a:r>
            <a:endParaRPr lang="en-US" altLang="en-US" dirty="0" smtClean="0"/>
          </a:p>
        </p:txBody>
      </p:sp>
      <p:sp>
        <p:nvSpPr>
          <p:cNvPr id="2057" name="Text Box 54"/>
          <p:cNvSpPr txBox="1">
            <a:spLocks noChangeArrowheads="1"/>
          </p:cNvSpPr>
          <p:nvPr/>
        </p:nvSpPr>
        <p:spPr bwMode="auto">
          <a:xfrm>
            <a:off x="1630363" y="1082675"/>
            <a:ext cx="4000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YES</a:t>
            </a:r>
          </a:p>
        </p:txBody>
      </p:sp>
      <p:sp>
        <p:nvSpPr>
          <p:cNvPr id="2059" name="Rectangle 17"/>
          <p:cNvSpPr>
            <a:spLocks noChangeArrowheads="1"/>
          </p:cNvSpPr>
          <p:nvPr/>
        </p:nvSpPr>
        <p:spPr bwMode="auto">
          <a:xfrm>
            <a:off x="1844675" y="3646488"/>
            <a:ext cx="1143000" cy="304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900" dirty="0" smtClean="0"/>
              <a:t>File Certification under</a:t>
            </a:r>
          </a:p>
          <a:p>
            <a:pPr algn="ctr">
              <a:defRPr/>
            </a:pPr>
            <a:r>
              <a:rPr lang="en-US" altLang="en-US" sz="900" dirty="0" smtClean="0"/>
              <a:t>37 CFR § 1.97(e)(1)</a:t>
            </a:r>
          </a:p>
        </p:txBody>
      </p:sp>
      <p:sp>
        <p:nvSpPr>
          <p:cNvPr id="3" name="Text Box 103"/>
          <p:cNvSpPr txBox="1">
            <a:spLocks noChangeArrowheads="1"/>
          </p:cNvSpPr>
          <p:nvPr/>
        </p:nvSpPr>
        <p:spPr bwMode="auto">
          <a:xfrm>
            <a:off x="2378075" y="3290888"/>
            <a:ext cx="4000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YES</a:t>
            </a:r>
          </a:p>
        </p:txBody>
      </p:sp>
      <p:sp>
        <p:nvSpPr>
          <p:cNvPr id="2060" name="Text Box 53"/>
          <p:cNvSpPr txBox="1">
            <a:spLocks noChangeArrowheads="1"/>
          </p:cNvSpPr>
          <p:nvPr/>
        </p:nvSpPr>
        <p:spPr bwMode="auto">
          <a:xfrm>
            <a:off x="1417638" y="2562225"/>
            <a:ext cx="4000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YES</a:t>
            </a:r>
          </a:p>
        </p:txBody>
      </p:sp>
      <p:sp>
        <p:nvSpPr>
          <p:cNvPr id="2061" name="AutoShape 13"/>
          <p:cNvSpPr>
            <a:spLocks noChangeArrowheads="1"/>
          </p:cNvSpPr>
          <p:nvPr/>
        </p:nvSpPr>
        <p:spPr bwMode="auto">
          <a:xfrm>
            <a:off x="1816100" y="2170113"/>
            <a:ext cx="1189038" cy="1189037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Was </a:t>
            </a:r>
            <a:r>
              <a:rPr lang="en-US" altLang="en-US" sz="900" b="1" u="sng"/>
              <a:t>ALL</a:t>
            </a:r>
            <a:r>
              <a:rPr lang="en-US" altLang="en-US" sz="900"/>
              <a:t>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art cited by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foreign patent office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within the last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3 months?</a:t>
            </a:r>
          </a:p>
        </p:txBody>
      </p:sp>
      <p:sp>
        <p:nvSpPr>
          <p:cNvPr id="2062" name="Text Box 53"/>
          <p:cNvSpPr txBox="1">
            <a:spLocks noChangeArrowheads="1"/>
          </p:cNvSpPr>
          <p:nvPr/>
        </p:nvSpPr>
        <p:spPr bwMode="auto">
          <a:xfrm>
            <a:off x="2947988" y="2570163"/>
            <a:ext cx="352425" cy="23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NO</a:t>
            </a:r>
          </a:p>
        </p:txBody>
      </p:sp>
      <p:sp>
        <p:nvSpPr>
          <p:cNvPr id="2063" name="AutoShape 13"/>
          <p:cNvSpPr>
            <a:spLocks noChangeArrowheads="1"/>
          </p:cNvSpPr>
          <p:nvPr/>
        </p:nvSpPr>
        <p:spPr bwMode="auto">
          <a:xfrm>
            <a:off x="3316288" y="2168525"/>
            <a:ext cx="1187450" cy="1189038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Was </a:t>
            </a:r>
            <a:r>
              <a:rPr lang="en-US" altLang="en-US" sz="900" b="1" u="sng"/>
              <a:t>ANY</a:t>
            </a:r>
            <a:r>
              <a:rPr lang="en-US" altLang="en-US" sz="900"/>
              <a:t> art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cited by foreign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patent office</a:t>
            </a:r>
          </a:p>
        </p:txBody>
      </p:sp>
      <p:sp>
        <p:nvSpPr>
          <p:cNvPr id="115" name="Rectangle 17"/>
          <p:cNvSpPr>
            <a:spLocks noChangeArrowheads="1"/>
          </p:cNvSpPr>
          <p:nvPr/>
        </p:nvSpPr>
        <p:spPr bwMode="auto">
          <a:xfrm>
            <a:off x="3341688" y="3494088"/>
            <a:ext cx="1143000" cy="304800"/>
          </a:xfrm>
          <a:prstGeom prst="rect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900" dirty="0" smtClean="0"/>
              <a:t>Pay  §1.17(p) fee ($180)</a:t>
            </a:r>
            <a:endParaRPr lang="en-US" altLang="en-US" sz="900" dirty="0"/>
          </a:p>
        </p:txBody>
      </p:sp>
      <p:sp>
        <p:nvSpPr>
          <p:cNvPr id="116" name="Rectangle 20"/>
          <p:cNvSpPr>
            <a:spLocks noChangeArrowheads="1"/>
          </p:cNvSpPr>
          <p:nvPr/>
        </p:nvSpPr>
        <p:spPr bwMode="auto">
          <a:xfrm>
            <a:off x="3341688" y="4008438"/>
            <a:ext cx="1143000" cy="228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900" dirty="0" smtClean="0"/>
              <a:t>IDS Considered</a:t>
            </a:r>
          </a:p>
        </p:txBody>
      </p:sp>
      <p:sp>
        <p:nvSpPr>
          <p:cNvPr id="2066" name="Text Box 103"/>
          <p:cNvSpPr txBox="1">
            <a:spLocks noChangeArrowheads="1"/>
          </p:cNvSpPr>
          <p:nvPr/>
        </p:nvSpPr>
        <p:spPr bwMode="auto">
          <a:xfrm>
            <a:off x="3922713" y="3303588"/>
            <a:ext cx="4000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YES</a:t>
            </a:r>
          </a:p>
        </p:txBody>
      </p:sp>
      <p:sp>
        <p:nvSpPr>
          <p:cNvPr id="2067" name="Text Box 53"/>
          <p:cNvSpPr txBox="1">
            <a:spLocks noChangeArrowheads="1"/>
          </p:cNvSpPr>
          <p:nvPr/>
        </p:nvSpPr>
        <p:spPr bwMode="auto">
          <a:xfrm>
            <a:off x="4437063" y="2560638"/>
            <a:ext cx="350837" cy="23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NO</a:t>
            </a:r>
          </a:p>
        </p:txBody>
      </p:sp>
      <p:sp>
        <p:nvSpPr>
          <p:cNvPr id="2068" name="AutoShape 13"/>
          <p:cNvSpPr>
            <a:spLocks noChangeArrowheads="1"/>
          </p:cNvSpPr>
          <p:nvPr/>
        </p:nvSpPr>
        <p:spPr bwMode="auto">
          <a:xfrm>
            <a:off x="4799013" y="2168525"/>
            <a:ext cx="1189037" cy="1187450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/>
              <a:t>Was </a:t>
            </a:r>
            <a:r>
              <a:rPr lang="en-US" altLang="en-US" sz="900" b="1" u="sng" dirty="0"/>
              <a:t>ALL</a:t>
            </a:r>
            <a:endParaRPr lang="en-US" altLang="en-US" sz="900" dirty="0" smtClean="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/>
              <a:t>a</a:t>
            </a:r>
            <a:r>
              <a:rPr lang="en-US" altLang="en-US" sz="900" dirty="0" smtClean="0"/>
              <a:t>rt new </a:t>
            </a:r>
            <a:r>
              <a:rPr lang="en-US" altLang="en-US" sz="900" dirty="0"/>
              <a:t>to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/>
              <a:t>everyone under 1.56(c)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/>
              <a:t>within the last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/>
              <a:t>3 mo. </a:t>
            </a:r>
          </a:p>
        </p:txBody>
      </p:sp>
      <p:sp>
        <p:nvSpPr>
          <p:cNvPr id="128" name="Rectangle 17"/>
          <p:cNvSpPr>
            <a:spLocks noChangeArrowheads="1"/>
          </p:cNvSpPr>
          <p:nvPr/>
        </p:nvSpPr>
        <p:spPr bwMode="auto">
          <a:xfrm>
            <a:off x="4827588" y="3651250"/>
            <a:ext cx="1143000" cy="304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900" dirty="0" smtClean="0"/>
              <a:t>File Certification under</a:t>
            </a:r>
          </a:p>
          <a:p>
            <a:pPr algn="ctr">
              <a:defRPr/>
            </a:pPr>
            <a:r>
              <a:rPr lang="en-US" altLang="en-US" sz="900" dirty="0" smtClean="0"/>
              <a:t>37 CFR § 1.97(e)(2)</a:t>
            </a:r>
          </a:p>
        </p:txBody>
      </p:sp>
      <p:sp>
        <p:nvSpPr>
          <p:cNvPr id="2070" name="Text Box 103"/>
          <p:cNvSpPr txBox="1">
            <a:spLocks noChangeArrowheads="1"/>
          </p:cNvSpPr>
          <p:nvPr/>
        </p:nvSpPr>
        <p:spPr bwMode="auto">
          <a:xfrm>
            <a:off x="5395913" y="3290888"/>
            <a:ext cx="4000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YES</a:t>
            </a:r>
          </a:p>
        </p:txBody>
      </p:sp>
      <p:sp>
        <p:nvSpPr>
          <p:cNvPr id="2071" name="AutoShape 13"/>
          <p:cNvSpPr>
            <a:spLocks noChangeAspect="1" noChangeArrowheads="1"/>
          </p:cNvSpPr>
          <p:nvPr/>
        </p:nvSpPr>
        <p:spPr bwMode="auto">
          <a:xfrm>
            <a:off x="341313" y="4806950"/>
            <a:ext cx="1189037" cy="1189038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 smtClean="0"/>
              <a:t>Has the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 smtClean="0"/>
              <a:t>Issue Fee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/>
              <a:t>b</a:t>
            </a:r>
            <a:r>
              <a:rPr lang="en-US" altLang="en-US" sz="900" dirty="0" smtClean="0"/>
              <a:t>een paid?</a:t>
            </a:r>
            <a:endParaRPr lang="en-US" altLang="en-US" sz="900" dirty="0"/>
          </a:p>
        </p:txBody>
      </p:sp>
      <p:sp>
        <p:nvSpPr>
          <p:cNvPr id="2072" name="Text Box 53"/>
          <p:cNvSpPr txBox="1">
            <a:spLocks noChangeArrowheads="1"/>
          </p:cNvSpPr>
          <p:nvPr/>
        </p:nvSpPr>
        <p:spPr bwMode="auto">
          <a:xfrm>
            <a:off x="1450975" y="5207000"/>
            <a:ext cx="32573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 dirty="0" smtClean="0"/>
              <a:t>No</a:t>
            </a:r>
            <a:endParaRPr lang="en-US" altLang="en-US" sz="900" dirty="0"/>
          </a:p>
        </p:txBody>
      </p:sp>
      <p:sp>
        <p:nvSpPr>
          <p:cNvPr id="2073" name="AutoShape 13"/>
          <p:cNvSpPr>
            <a:spLocks noChangeArrowheads="1"/>
          </p:cNvSpPr>
          <p:nvPr/>
        </p:nvSpPr>
        <p:spPr bwMode="auto">
          <a:xfrm>
            <a:off x="1811338" y="4808538"/>
            <a:ext cx="1187450" cy="1189037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Was </a:t>
            </a:r>
            <a:r>
              <a:rPr lang="en-US" altLang="en-US" sz="900" b="1" u="sng"/>
              <a:t>ALL</a:t>
            </a:r>
            <a:r>
              <a:rPr lang="en-US" altLang="en-US" sz="900"/>
              <a:t>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art cited by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foreign patent office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within the last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3 months?</a:t>
            </a:r>
          </a:p>
        </p:txBody>
      </p:sp>
      <p:sp>
        <p:nvSpPr>
          <p:cNvPr id="2074" name="Text Box 103"/>
          <p:cNvSpPr txBox="1">
            <a:spLocks noChangeArrowheads="1"/>
          </p:cNvSpPr>
          <p:nvPr/>
        </p:nvSpPr>
        <p:spPr bwMode="auto">
          <a:xfrm>
            <a:off x="2362200" y="4648200"/>
            <a:ext cx="4000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YES</a:t>
            </a:r>
          </a:p>
        </p:txBody>
      </p:sp>
      <p:sp>
        <p:nvSpPr>
          <p:cNvPr id="2075" name="Text Box 53"/>
          <p:cNvSpPr txBox="1">
            <a:spLocks noChangeArrowheads="1"/>
          </p:cNvSpPr>
          <p:nvPr/>
        </p:nvSpPr>
        <p:spPr bwMode="auto">
          <a:xfrm>
            <a:off x="2917825" y="5203825"/>
            <a:ext cx="350838" cy="23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NO</a:t>
            </a:r>
          </a:p>
        </p:txBody>
      </p:sp>
      <p:sp>
        <p:nvSpPr>
          <p:cNvPr id="2076" name="AutoShape 13"/>
          <p:cNvSpPr>
            <a:spLocks noChangeArrowheads="1"/>
          </p:cNvSpPr>
          <p:nvPr/>
        </p:nvSpPr>
        <p:spPr bwMode="auto">
          <a:xfrm>
            <a:off x="3306763" y="4806950"/>
            <a:ext cx="1187450" cy="1189038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Was </a:t>
            </a:r>
            <a:r>
              <a:rPr lang="en-US" altLang="en-US" sz="900" b="1" u="sng"/>
              <a:t>ANY</a:t>
            </a:r>
            <a:r>
              <a:rPr lang="en-US" altLang="en-US" sz="900"/>
              <a:t> art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cited by foreign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/>
              <a:t>patent office</a:t>
            </a:r>
          </a:p>
        </p:txBody>
      </p:sp>
      <p:sp>
        <p:nvSpPr>
          <p:cNvPr id="2077" name="Text Box 53"/>
          <p:cNvSpPr txBox="1">
            <a:spLocks noChangeArrowheads="1"/>
          </p:cNvSpPr>
          <p:nvPr/>
        </p:nvSpPr>
        <p:spPr bwMode="auto">
          <a:xfrm>
            <a:off x="4427538" y="5199063"/>
            <a:ext cx="352425" cy="23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NO</a:t>
            </a:r>
          </a:p>
        </p:txBody>
      </p:sp>
      <p:sp>
        <p:nvSpPr>
          <p:cNvPr id="2078" name="AutoShape 13"/>
          <p:cNvSpPr>
            <a:spLocks noChangeArrowheads="1"/>
          </p:cNvSpPr>
          <p:nvPr/>
        </p:nvSpPr>
        <p:spPr bwMode="auto">
          <a:xfrm>
            <a:off x="4810125" y="4811713"/>
            <a:ext cx="1187450" cy="1189037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/>
              <a:t>Was </a:t>
            </a:r>
            <a:r>
              <a:rPr lang="en-US" altLang="en-US" sz="900" b="1" u="sng" dirty="0"/>
              <a:t>ALL</a:t>
            </a:r>
            <a:r>
              <a:rPr lang="en-US" altLang="en-US" sz="900" dirty="0" smtClean="0"/>
              <a:t>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 smtClean="0"/>
              <a:t>art new </a:t>
            </a:r>
            <a:r>
              <a:rPr lang="en-US" altLang="en-US" sz="900" dirty="0"/>
              <a:t>to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/>
              <a:t>everyone under 1.56(c)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/>
              <a:t>within the last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/>
              <a:t>3 mo. </a:t>
            </a:r>
          </a:p>
        </p:txBody>
      </p:sp>
      <p:sp>
        <p:nvSpPr>
          <p:cNvPr id="2079" name="Text Box 103"/>
          <p:cNvSpPr txBox="1">
            <a:spLocks noChangeArrowheads="1"/>
          </p:cNvSpPr>
          <p:nvPr/>
        </p:nvSpPr>
        <p:spPr bwMode="auto">
          <a:xfrm>
            <a:off x="5380038" y="4648200"/>
            <a:ext cx="4000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YES</a:t>
            </a:r>
          </a:p>
        </p:txBody>
      </p:sp>
      <p:sp>
        <p:nvSpPr>
          <p:cNvPr id="191" name="Rectangle 20"/>
          <p:cNvSpPr>
            <a:spLocks noChangeArrowheads="1"/>
          </p:cNvSpPr>
          <p:nvPr/>
        </p:nvSpPr>
        <p:spPr bwMode="auto">
          <a:xfrm>
            <a:off x="4005263" y="6723063"/>
            <a:ext cx="1143000" cy="228600"/>
          </a:xfrm>
          <a:prstGeom prst="rect">
            <a:avLst/>
          </a:prstGeom>
          <a:ln>
            <a:solidFill>
              <a:srgbClr val="7030A0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altLang="en-US" sz="900" dirty="0">
                <a:solidFill>
                  <a:schemeClr val="tx1"/>
                </a:solidFill>
                <a:latin typeface="Times New Roman" charset="0"/>
              </a:rPr>
              <a:t>File a RCE</a:t>
            </a:r>
          </a:p>
        </p:txBody>
      </p:sp>
      <p:sp>
        <p:nvSpPr>
          <p:cNvPr id="192" name="Rectangle 20"/>
          <p:cNvSpPr>
            <a:spLocks noChangeArrowheads="1"/>
          </p:cNvSpPr>
          <p:nvPr/>
        </p:nvSpPr>
        <p:spPr bwMode="auto">
          <a:xfrm>
            <a:off x="5502275" y="6723063"/>
            <a:ext cx="1143000" cy="228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900" dirty="0" smtClean="0"/>
              <a:t>IDS Considered</a:t>
            </a:r>
          </a:p>
        </p:txBody>
      </p:sp>
      <p:sp>
        <p:nvSpPr>
          <p:cNvPr id="2082" name="Text Box 55"/>
          <p:cNvSpPr txBox="1">
            <a:spLocks noChangeArrowheads="1"/>
          </p:cNvSpPr>
          <p:nvPr/>
        </p:nvSpPr>
        <p:spPr bwMode="auto">
          <a:xfrm>
            <a:off x="896938" y="3827463"/>
            <a:ext cx="3492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 dirty="0"/>
              <a:t>NO</a:t>
            </a:r>
          </a:p>
        </p:txBody>
      </p:sp>
      <p:sp>
        <p:nvSpPr>
          <p:cNvPr id="2083" name="AutoShape 13"/>
          <p:cNvSpPr>
            <a:spLocks noChangeArrowheads="1"/>
          </p:cNvSpPr>
          <p:nvPr/>
        </p:nvSpPr>
        <p:spPr bwMode="auto">
          <a:xfrm>
            <a:off x="349250" y="6296025"/>
            <a:ext cx="1189038" cy="1189038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/>
              <a:t>Was </a:t>
            </a:r>
            <a:r>
              <a:rPr lang="en-US" altLang="en-US" sz="900" b="1" u="sng" dirty="0"/>
              <a:t>ALL</a:t>
            </a:r>
            <a:r>
              <a:rPr lang="en-US" altLang="en-US" sz="900" dirty="0"/>
              <a:t>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/>
              <a:t>art cited by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/>
              <a:t>foreign patent office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/>
              <a:t>within the last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/>
              <a:t>3 months?</a:t>
            </a:r>
          </a:p>
        </p:txBody>
      </p:sp>
      <p:sp>
        <p:nvSpPr>
          <p:cNvPr id="228" name="Rectangle 17"/>
          <p:cNvSpPr>
            <a:spLocks noChangeArrowheads="1"/>
          </p:cNvSpPr>
          <p:nvPr/>
        </p:nvSpPr>
        <p:spPr bwMode="auto">
          <a:xfrm>
            <a:off x="1846263" y="8275638"/>
            <a:ext cx="1143000" cy="304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900" dirty="0" smtClean="0"/>
              <a:t>File Certification under</a:t>
            </a:r>
          </a:p>
          <a:p>
            <a:pPr algn="ctr">
              <a:defRPr/>
            </a:pPr>
            <a:r>
              <a:rPr lang="en-US" altLang="en-US" sz="900" dirty="0" smtClean="0"/>
              <a:t>37 CFR § 1.97(e)(2)</a:t>
            </a:r>
          </a:p>
        </p:txBody>
      </p:sp>
      <p:sp>
        <p:nvSpPr>
          <p:cNvPr id="229" name="Rectangle 20"/>
          <p:cNvSpPr>
            <a:spLocks noChangeArrowheads="1"/>
          </p:cNvSpPr>
          <p:nvPr/>
        </p:nvSpPr>
        <p:spPr bwMode="auto">
          <a:xfrm>
            <a:off x="1847850" y="8732838"/>
            <a:ext cx="1143000" cy="228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900" dirty="0" smtClean="0"/>
              <a:t>IDS Considered</a:t>
            </a:r>
          </a:p>
        </p:txBody>
      </p:sp>
      <p:sp>
        <p:nvSpPr>
          <p:cNvPr id="225" name="Rectangle 17"/>
          <p:cNvSpPr>
            <a:spLocks noChangeArrowheads="1"/>
          </p:cNvSpPr>
          <p:nvPr/>
        </p:nvSpPr>
        <p:spPr bwMode="auto">
          <a:xfrm>
            <a:off x="1828800" y="7639050"/>
            <a:ext cx="1176338" cy="471488"/>
          </a:xfrm>
          <a:prstGeom prst="rect">
            <a:avLst/>
          </a:prstGeom>
          <a:ln>
            <a:solidFill>
              <a:srgbClr val="FFC00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900" dirty="0" smtClean="0"/>
              <a:t>File QPIDS (Withdrawal</a:t>
            </a:r>
          </a:p>
          <a:p>
            <a:pPr algn="ctr">
              <a:defRPr/>
            </a:pPr>
            <a:r>
              <a:rPr lang="en-US" altLang="en-US" sz="900" dirty="0" smtClean="0"/>
              <a:t>from Issue and </a:t>
            </a:r>
          </a:p>
          <a:p>
            <a:pPr algn="ctr">
              <a:defRPr/>
            </a:pPr>
            <a:r>
              <a:rPr lang="en-US" altLang="en-US" sz="900" dirty="0" smtClean="0"/>
              <a:t>conditional RCE)</a:t>
            </a:r>
          </a:p>
        </p:txBody>
      </p:sp>
      <p:sp>
        <p:nvSpPr>
          <p:cNvPr id="2087" name="Text Box 103"/>
          <p:cNvSpPr txBox="1">
            <a:spLocks noChangeArrowheads="1"/>
          </p:cNvSpPr>
          <p:nvPr/>
        </p:nvSpPr>
        <p:spPr bwMode="auto">
          <a:xfrm>
            <a:off x="2381250" y="7442200"/>
            <a:ext cx="4000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YES</a:t>
            </a:r>
          </a:p>
        </p:txBody>
      </p:sp>
      <p:sp>
        <p:nvSpPr>
          <p:cNvPr id="2088" name="Text Box 53"/>
          <p:cNvSpPr txBox="1">
            <a:spLocks noChangeArrowheads="1"/>
          </p:cNvSpPr>
          <p:nvPr/>
        </p:nvSpPr>
        <p:spPr bwMode="auto">
          <a:xfrm>
            <a:off x="1503363" y="6696075"/>
            <a:ext cx="350837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NO</a:t>
            </a:r>
          </a:p>
        </p:txBody>
      </p:sp>
      <p:sp>
        <p:nvSpPr>
          <p:cNvPr id="2089" name="AutoShape 13"/>
          <p:cNvSpPr>
            <a:spLocks noChangeArrowheads="1"/>
          </p:cNvSpPr>
          <p:nvPr/>
        </p:nvSpPr>
        <p:spPr bwMode="auto">
          <a:xfrm>
            <a:off x="1820863" y="6297613"/>
            <a:ext cx="1187450" cy="1189037"/>
          </a:xfrm>
          <a:prstGeom prst="diamond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/>
              <a:t>Was </a:t>
            </a:r>
            <a:r>
              <a:rPr lang="en-US" altLang="en-US" sz="900" b="1" u="sng" dirty="0"/>
              <a:t>ALL</a:t>
            </a:r>
            <a:r>
              <a:rPr lang="en-US" altLang="en-US" sz="900" dirty="0" smtClean="0"/>
              <a:t>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 smtClean="0"/>
              <a:t>art new </a:t>
            </a:r>
            <a:r>
              <a:rPr lang="en-US" altLang="en-US" sz="900" dirty="0"/>
              <a:t>to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/>
              <a:t>everyone under 1.56(c)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/>
              <a:t>within the last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900" dirty="0"/>
              <a:t>3 mo. </a:t>
            </a:r>
          </a:p>
        </p:txBody>
      </p:sp>
      <p:sp>
        <p:nvSpPr>
          <p:cNvPr id="2090" name="Text Box 53"/>
          <p:cNvSpPr txBox="1">
            <a:spLocks noChangeArrowheads="1"/>
          </p:cNvSpPr>
          <p:nvPr/>
        </p:nvSpPr>
        <p:spPr bwMode="auto">
          <a:xfrm>
            <a:off x="3005138" y="6696075"/>
            <a:ext cx="350837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NO</a:t>
            </a:r>
          </a:p>
        </p:txBody>
      </p:sp>
      <p:sp>
        <p:nvSpPr>
          <p:cNvPr id="2091" name="Text Box 53"/>
          <p:cNvSpPr txBox="1">
            <a:spLocks noChangeArrowheads="1"/>
          </p:cNvSpPr>
          <p:nvPr/>
        </p:nvSpPr>
        <p:spPr bwMode="auto">
          <a:xfrm>
            <a:off x="3900488" y="6110288"/>
            <a:ext cx="4000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YES</a:t>
            </a:r>
          </a:p>
        </p:txBody>
      </p:sp>
      <p:sp>
        <p:nvSpPr>
          <p:cNvPr id="2092" name="Text Box 53"/>
          <p:cNvSpPr txBox="1">
            <a:spLocks noChangeArrowheads="1"/>
          </p:cNvSpPr>
          <p:nvPr/>
        </p:nvSpPr>
        <p:spPr bwMode="auto">
          <a:xfrm>
            <a:off x="5029200" y="6122988"/>
            <a:ext cx="350838" cy="23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NO</a:t>
            </a:r>
          </a:p>
        </p:txBody>
      </p:sp>
      <p:cxnSp>
        <p:nvCxnSpPr>
          <p:cNvPr id="2093" name="Straight Arrow Connector 254"/>
          <p:cNvCxnSpPr>
            <a:cxnSpLocks noChangeShapeType="1"/>
            <a:stCxn id="2055" idx="2"/>
            <a:endCxn id="2054" idx="0"/>
          </p:cNvCxnSpPr>
          <p:nvPr/>
        </p:nvCxnSpPr>
        <p:spPr bwMode="auto">
          <a:xfrm>
            <a:off x="935038" y="1863725"/>
            <a:ext cx="0" cy="3063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94" name="Straight Arrow Connector 256"/>
          <p:cNvCxnSpPr>
            <a:cxnSpLocks noChangeShapeType="1"/>
            <a:stCxn id="2054" idx="2"/>
            <a:endCxn id="2071" idx="0"/>
          </p:cNvCxnSpPr>
          <p:nvPr/>
        </p:nvCxnSpPr>
        <p:spPr bwMode="auto">
          <a:xfrm>
            <a:off x="935038" y="3359150"/>
            <a:ext cx="0" cy="1447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95" name="Straight Arrow Connector 258"/>
          <p:cNvCxnSpPr>
            <a:cxnSpLocks noChangeShapeType="1"/>
            <a:stCxn id="2054" idx="3"/>
            <a:endCxn id="2061" idx="1"/>
          </p:cNvCxnSpPr>
          <p:nvPr/>
        </p:nvCxnSpPr>
        <p:spPr bwMode="auto">
          <a:xfrm>
            <a:off x="1530350" y="2765425"/>
            <a:ext cx="28575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96" name="Straight Arrow Connector 260"/>
          <p:cNvCxnSpPr>
            <a:cxnSpLocks noChangeShapeType="1"/>
            <a:stCxn id="2061" idx="3"/>
            <a:endCxn id="2063" idx="1"/>
          </p:cNvCxnSpPr>
          <p:nvPr/>
        </p:nvCxnSpPr>
        <p:spPr bwMode="auto">
          <a:xfrm flipV="1">
            <a:off x="3005138" y="2762250"/>
            <a:ext cx="31115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97" name="Straight Arrow Connector 264"/>
          <p:cNvCxnSpPr>
            <a:cxnSpLocks noChangeShapeType="1"/>
            <a:stCxn id="2063" idx="3"/>
            <a:endCxn id="2068" idx="1"/>
          </p:cNvCxnSpPr>
          <p:nvPr/>
        </p:nvCxnSpPr>
        <p:spPr bwMode="auto">
          <a:xfrm flipV="1">
            <a:off x="4503738" y="2762250"/>
            <a:ext cx="295275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98" name="Straight Arrow Connector 266"/>
          <p:cNvCxnSpPr>
            <a:cxnSpLocks noChangeShapeType="1"/>
          </p:cNvCxnSpPr>
          <p:nvPr/>
        </p:nvCxnSpPr>
        <p:spPr bwMode="auto">
          <a:xfrm>
            <a:off x="1528763" y="1270000"/>
            <a:ext cx="854075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99" name="Straight Arrow Connector 268"/>
          <p:cNvCxnSpPr>
            <a:cxnSpLocks noChangeShapeType="1"/>
            <a:stCxn id="2061" idx="2"/>
            <a:endCxn id="2059" idx="0"/>
          </p:cNvCxnSpPr>
          <p:nvPr/>
        </p:nvCxnSpPr>
        <p:spPr bwMode="auto">
          <a:xfrm>
            <a:off x="2411413" y="3359150"/>
            <a:ext cx="4762" cy="2873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00" name="Straight Arrow Connector 280"/>
          <p:cNvCxnSpPr>
            <a:cxnSpLocks noChangeShapeType="1"/>
            <a:stCxn id="2073" idx="0"/>
            <a:endCxn id="359" idx="2"/>
          </p:cNvCxnSpPr>
          <p:nvPr/>
        </p:nvCxnSpPr>
        <p:spPr bwMode="auto">
          <a:xfrm flipV="1">
            <a:off x="2405063" y="4646613"/>
            <a:ext cx="4762" cy="1619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01" name="Straight Arrow Connector 282"/>
          <p:cNvCxnSpPr>
            <a:cxnSpLocks noChangeShapeType="1"/>
            <a:stCxn id="2071" idx="3"/>
            <a:endCxn id="2073" idx="1"/>
          </p:cNvCxnSpPr>
          <p:nvPr/>
        </p:nvCxnSpPr>
        <p:spPr bwMode="auto">
          <a:xfrm>
            <a:off x="1530350" y="5400675"/>
            <a:ext cx="280988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02" name="Straight Arrow Connector 284"/>
          <p:cNvCxnSpPr>
            <a:cxnSpLocks noChangeShapeType="1"/>
            <a:stCxn id="2073" idx="3"/>
            <a:endCxn id="2076" idx="1"/>
          </p:cNvCxnSpPr>
          <p:nvPr/>
        </p:nvCxnSpPr>
        <p:spPr bwMode="auto">
          <a:xfrm flipV="1">
            <a:off x="2998788" y="5400675"/>
            <a:ext cx="307975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03" name="Straight Arrow Connector 286"/>
          <p:cNvCxnSpPr>
            <a:cxnSpLocks noChangeShapeType="1"/>
            <a:stCxn id="2076" idx="3"/>
            <a:endCxn id="2078" idx="1"/>
          </p:cNvCxnSpPr>
          <p:nvPr/>
        </p:nvCxnSpPr>
        <p:spPr bwMode="auto">
          <a:xfrm>
            <a:off x="4494213" y="5400675"/>
            <a:ext cx="315912" cy="63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04" name="Straight Arrow Connector 2132"/>
          <p:cNvCxnSpPr>
            <a:cxnSpLocks noChangeShapeType="1"/>
            <a:stCxn id="2063" idx="2"/>
            <a:endCxn id="115" idx="0"/>
          </p:cNvCxnSpPr>
          <p:nvPr/>
        </p:nvCxnSpPr>
        <p:spPr bwMode="auto">
          <a:xfrm>
            <a:off x="3910013" y="3357563"/>
            <a:ext cx="3175" cy="1365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05" name="Straight Arrow Connector 2136"/>
          <p:cNvCxnSpPr>
            <a:cxnSpLocks noChangeShapeType="1"/>
            <a:stCxn id="115" idx="2"/>
            <a:endCxn id="116" idx="0"/>
          </p:cNvCxnSpPr>
          <p:nvPr/>
        </p:nvCxnSpPr>
        <p:spPr bwMode="auto">
          <a:xfrm>
            <a:off x="3913188" y="3798888"/>
            <a:ext cx="0" cy="2095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06" name="Straight Arrow Connector 2141"/>
          <p:cNvCxnSpPr>
            <a:cxnSpLocks noChangeShapeType="1"/>
            <a:stCxn id="2068" idx="2"/>
            <a:endCxn id="128" idx="0"/>
          </p:cNvCxnSpPr>
          <p:nvPr/>
        </p:nvCxnSpPr>
        <p:spPr bwMode="auto">
          <a:xfrm>
            <a:off x="5392738" y="3355975"/>
            <a:ext cx="6350" cy="2952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07" name="Elbow Connector 143"/>
          <p:cNvCxnSpPr>
            <a:cxnSpLocks noChangeShapeType="1"/>
            <a:stCxn id="2089" idx="3"/>
            <a:endCxn id="2051" idx="1"/>
          </p:cNvCxnSpPr>
          <p:nvPr/>
        </p:nvCxnSpPr>
        <p:spPr bwMode="auto">
          <a:xfrm>
            <a:off x="3008313" y="6892925"/>
            <a:ext cx="996950" cy="939800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08" name="Elbow Connector 145"/>
          <p:cNvCxnSpPr>
            <a:cxnSpLocks noChangeShapeType="1"/>
            <a:stCxn id="2076" idx="2"/>
          </p:cNvCxnSpPr>
          <p:nvPr/>
        </p:nvCxnSpPr>
        <p:spPr bwMode="auto">
          <a:xfrm rot="16200000" flipH="1">
            <a:off x="3748088" y="6148388"/>
            <a:ext cx="727075" cy="422275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09" name="Elbow Connector 159"/>
          <p:cNvCxnSpPr>
            <a:cxnSpLocks noChangeShapeType="1"/>
            <a:stCxn id="2078" idx="2"/>
          </p:cNvCxnSpPr>
          <p:nvPr/>
        </p:nvCxnSpPr>
        <p:spPr bwMode="auto">
          <a:xfrm rot="5400000">
            <a:off x="4802187" y="6121401"/>
            <a:ext cx="722313" cy="48101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0" name="Elbow Connector 2144"/>
          <p:cNvCxnSpPr>
            <a:cxnSpLocks noChangeShapeType="1"/>
            <a:endCxn id="116" idx="3"/>
          </p:cNvCxnSpPr>
          <p:nvPr/>
        </p:nvCxnSpPr>
        <p:spPr bwMode="auto">
          <a:xfrm rot="10800000" flipV="1">
            <a:off x="4484688" y="3960813"/>
            <a:ext cx="544512" cy="161925"/>
          </a:xfrm>
          <a:prstGeom prst="bentConnector3">
            <a:avLst>
              <a:gd name="adj1" fmla="val 1079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1" name="Elbow Connector 2147"/>
          <p:cNvCxnSpPr>
            <a:cxnSpLocks noChangeShapeType="1"/>
            <a:endCxn id="116" idx="1"/>
          </p:cNvCxnSpPr>
          <p:nvPr/>
        </p:nvCxnSpPr>
        <p:spPr bwMode="auto">
          <a:xfrm>
            <a:off x="2800350" y="3960813"/>
            <a:ext cx="541338" cy="161925"/>
          </a:xfrm>
          <a:prstGeom prst="bentConnector3">
            <a:avLst>
              <a:gd name="adj1" fmla="val -1028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9" name="Rectangle 17"/>
          <p:cNvSpPr>
            <a:spLocks noChangeArrowheads="1"/>
          </p:cNvSpPr>
          <p:nvPr/>
        </p:nvSpPr>
        <p:spPr bwMode="auto">
          <a:xfrm>
            <a:off x="1838325" y="4341813"/>
            <a:ext cx="1143000" cy="304800"/>
          </a:xfrm>
          <a:prstGeom prst="rect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900" dirty="0" smtClean="0"/>
              <a:t>Pay  §1.17(p) fee ($180)</a:t>
            </a:r>
            <a:endParaRPr lang="en-US" altLang="en-US" sz="900" dirty="0"/>
          </a:p>
        </p:txBody>
      </p:sp>
      <p:cxnSp>
        <p:nvCxnSpPr>
          <p:cNvPr id="2113" name="Straight Arrow Connector 2158"/>
          <p:cNvCxnSpPr>
            <a:cxnSpLocks noChangeShapeType="1"/>
            <a:stCxn id="359" idx="0"/>
            <a:endCxn id="2059" idx="2"/>
          </p:cNvCxnSpPr>
          <p:nvPr/>
        </p:nvCxnSpPr>
        <p:spPr bwMode="auto">
          <a:xfrm flipV="1">
            <a:off x="2409825" y="3951288"/>
            <a:ext cx="6350" cy="3905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9" name="Rectangle 17"/>
          <p:cNvSpPr>
            <a:spLocks noChangeArrowheads="1"/>
          </p:cNvSpPr>
          <p:nvPr/>
        </p:nvSpPr>
        <p:spPr bwMode="auto">
          <a:xfrm>
            <a:off x="4829175" y="4343400"/>
            <a:ext cx="1143000" cy="304800"/>
          </a:xfrm>
          <a:prstGeom prst="rect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900" dirty="0" smtClean="0"/>
              <a:t>Pay  §1.17(p) fee ($180)</a:t>
            </a:r>
            <a:endParaRPr lang="en-US" altLang="en-US" sz="900" dirty="0"/>
          </a:p>
        </p:txBody>
      </p:sp>
      <p:cxnSp>
        <p:nvCxnSpPr>
          <p:cNvPr id="2115" name="Straight Arrow Connector 2160"/>
          <p:cNvCxnSpPr>
            <a:cxnSpLocks noChangeShapeType="1"/>
            <a:stCxn id="2078" idx="0"/>
            <a:endCxn id="369" idx="2"/>
          </p:cNvCxnSpPr>
          <p:nvPr/>
        </p:nvCxnSpPr>
        <p:spPr bwMode="auto">
          <a:xfrm flipH="1" flipV="1">
            <a:off x="5400675" y="4648200"/>
            <a:ext cx="3175" cy="16351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6" name="Straight Arrow Connector 2163"/>
          <p:cNvCxnSpPr>
            <a:cxnSpLocks noChangeShapeType="1"/>
            <a:stCxn id="369" idx="0"/>
            <a:endCxn id="128" idx="2"/>
          </p:cNvCxnSpPr>
          <p:nvPr/>
        </p:nvCxnSpPr>
        <p:spPr bwMode="auto">
          <a:xfrm flipH="1" flipV="1">
            <a:off x="5399088" y="3956050"/>
            <a:ext cx="1587" cy="3873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7" name="Straight Arrow Connector 2165"/>
          <p:cNvCxnSpPr>
            <a:cxnSpLocks noChangeShapeType="1"/>
            <a:stCxn id="2071" idx="2"/>
            <a:endCxn id="2083" idx="0"/>
          </p:cNvCxnSpPr>
          <p:nvPr/>
        </p:nvCxnSpPr>
        <p:spPr bwMode="auto">
          <a:xfrm>
            <a:off x="935038" y="5995988"/>
            <a:ext cx="7937" cy="3000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8" name="Straight Arrow Connector 2167"/>
          <p:cNvCxnSpPr>
            <a:cxnSpLocks noChangeShapeType="1"/>
            <a:stCxn id="191" idx="3"/>
            <a:endCxn id="192" idx="1"/>
          </p:cNvCxnSpPr>
          <p:nvPr/>
        </p:nvCxnSpPr>
        <p:spPr bwMode="auto">
          <a:xfrm>
            <a:off x="5148263" y="6837363"/>
            <a:ext cx="354012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9" name="Straight Arrow Connector 2169"/>
          <p:cNvCxnSpPr>
            <a:cxnSpLocks noChangeShapeType="1"/>
            <a:stCxn id="2051" idx="0"/>
            <a:endCxn id="191" idx="2"/>
          </p:cNvCxnSpPr>
          <p:nvPr/>
        </p:nvCxnSpPr>
        <p:spPr bwMode="auto">
          <a:xfrm flipV="1">
            <a:off x="4576763" y="6951663"/>
            <a:ext cx="0" cy="6143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0" name="Straight Arrow Connector 2171"/>
          <p:cNvCxnSpPr>
            <a:cxnSpLocks noChangeShapeType="1"/>
            <a:stCxn id="225" idx="2"/>
            <a:endCxn id="228" idx="0"/>
          </p:cNvCxnSpPr>
          <p:nvPr/>
        </p:nvCxnSpPr>
        <p:spPr bwMode="auto">
          <a:xfrm>
            <a:off x="2417763" y="8110538"/>
            <a:ext cx="0" cy="165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1" name="Straight Arrow Connector 2174"/>
          <p:cNvCxnSpPr>
            <a:cxnSpLocks noChangeShapeType="1"/>
            <a:stCxn id="228" idx="2"/>
            <a:endCxn id="229" idx="0"/>
          </p:cNvCxnSpPr>
          <p:nvPr/>
        </p:nvCxnSpPr>
        <p:spPr bwMode="auto">
          <a:xfrm>
            <a:off x="2417763" y="8580438"/>
            <a:ext cx="1587" cy="152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2" name="Straight Arrow Connector 352"/>
          <p:cNvCxnSpPr>
            <a:cxnSpLocks noChangeShapeType="1"/>
            <a:stCxn id="2089" idx="2"/>
            <a:endCxn id="225" idx="0"/>
          </p:cNvCxnSpPr>
          <p:nvPr/>
        </p:nvCxnSpPr>
        <p:spPr bwMode="auto">
          <a:xfrm>
            <a:off x="2414588" y="7486650"/>
            <a:ext cx="3175" cy="152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8" name="Rectangle 17"/>
          <p:cNvSpPr>
            <a:spLocks noChangeArrowheads="1"/>
          </p:cNvSpPr>
          <p:nvPr/>
        </p:nvSpPr>
        <p:spPr bwMode="auto">
          <a:xfrm>
            <a:off x="379413" y="8264525"/>
            <a:ext cx="1143000" cy="304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900" dirty="0" smtClean="0"/>
              <a:t>File Certification under</a:t>
            </a:r>
          </a:p>
          <a:p>
            <a:pPr algn="ctr">
              <a:defRPr/>
            </a:pPr>
            <a:r>
              <a:rPr lang="en-US" altLang="en-US" sz="900" dirty="0" smtClean="0"/>
              <a:t>37 CFR § 1.97(e)(1)</a:t>
            </a:r>
          </a:p>
        </p:txBody>
      </p:sp>
      <p:sp>
        <p:nvSpPr>
          <p:cNvPr id="389" name="Rectangle 20"/>
          <p:cNvSpPr>
            <a:spLocks noChangeArrowheads="1"/>
          </p:cNvSpPr>
          <p:nvPr/>
        </p:nvSpPr>
        <p:spPr bwMode="auto">
          <a:xfrm>
            <a:off x="379413" y="8721725"/>
            <a:ext cx="1143000" cy="228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900" dirty="0" smtClean="0"/>
              <a:t>IDS Considered</a:t>
            </a:r>
          </a:p>
        </p:txBody>
      </p:sp>
      <p:sp>
        <p:nvSpPr>
          <p:cNvPr id="390" name="Rectangle 17"/>
          <p:cNvSpPr>
            <a:spLocks noChangeArrowheads="1"/>
          </p:cNvSpPr>
          <p:nvPr/>
        </p:nvSpPr>
        <p:spPr bwMode="auto">
          <a:xfrm>
            <a:off x="361950" y="7627938"/>
            <a:ext cx="1176338" cy="471487"/>
          </a:xfrm>
          <a:prstGeom prst="rect">
            <a:avLst/>
          </a:prstGeom>
          <a:ln>
            <a:solidFill>
              <a:srgbClr val="FFC00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900" dirty="0" smtClean="0"/>
              <a:t>File QPIDS (Withdrawal</a:t>
            </a:r>
          </a:p>
          <a:p>
            <a:pPr algn="ctr">
              <a:defRPr/>
            </a:pPr>
            <a:r>
              <a:rPr lang="en-US" altLang="en-US" sz="900" dirty="0" smtClean="0"/>
              <a:t>from Issue and </a:t>
            </a:r>
          </a:p>
          <a:p>
            <a:pPr algn="ctr">
              <a:defRPr/>
            </a:pPr>
            <a:r>
              <a:rPr lang="en-US" altLang="en-US" sz="900" dirty="0" smtClean="0"/>
              <a:t>conditional RCE)</a:t>
            </a:r>
          </a:p>
        </p:txBody>
      </p:sp>
      <p:cxnSp>
        <p:nvCxnSpPr>
          <p:cNvPr id="2126" name="Straight Arrow Connector 390"/>
          <p:cNvCxnSpPr>
            <a:cxnSpLocks noChangeShapeType="1"/>
            <a:stCxn id="390" idx="2"/>
            <a:endCxn id="388" idx="0"/>
          </p:cNvCxnSpPr>
          <p:nvPr/>
        </p:nvCxnSpPr>
        <p:spPr bwMode="auto">
          <a:xfrm>
            <a:off x="949325" y="8099425"/>
            <a:ext cx="1588" cy="165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7" name="Straight Arrow Connector 391"/>
          <p:cNvCxnSpPr>
            <a:cxnSpLocks noChangeShapeType="1"/>
            <a:stCxn id="388" idx="2"/>
            <a:endCxn id="389" idx="0"/>
          </p:cNvCxnSpPr>
          <p:nvPr/>
        </p:nvCxnSpPr>
        <p:spPr bwMode="auto">
          <a:xfrm>
            <a:off x="950913" y="8569325"/>
            <a:ext cx="0" cy="152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8" name="Straight Arrow Connector 392"/>
          <p:cNvCxnSpPr>
            <a:cxnSpLocks noChangeShapeType="1"/>
            <a:endCxn id="390" idx="0"/>
          </p:cNvCxnSpPr>
          <p:nvPr/>
        </p:nvCxnSpPr>
        <p:spPr bwMode="auto">
          <a:xfrm>
            <a:off x="947738" y="7475538"/>
            <a:ext cx="1587" cy="152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29" name="Text Box 103"/>
          <p:cNvSpPr txBox="1">
            <a:spLocks noChangeArrowheads="1"/>
          </p:cNvSpPr>
          <p:nvPr/>
        </p:nvSpPr>
        <p:spPr bwMode="auto">
          <a:xfrm>
            <a:off x="904875" y="7418388"/>
            <a:ext cx="4000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YES</a:t>
            </a:r>
          </a:p>
        </p:txBody>
      </p:sp>
      <p:cxnSp>
        <p:nvCxnSpPr>
          <p:cNvPr id="2130" name="Straight Arrow Connector 354"/>
          <p:cNvCxnSpPr>
            <a:cxnSpLocks noChangeShapeType="1"/>
            <a:stCxn id="2083" idx="3"/>
            <a:endCxn id="2089" idx="1"/>
          </p:cNvCxnSpPr>
          <p:nvPr/>
        </p:nvCxnSpPr>
        <p:spPr bwMode="auto">
          <a:xfrm>
            <a:off x="1538288" y="6889750"/>
            <a:ext cx="282575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7" name="Rectangle 17"/>
          <p:cNvSpPr>
            <a:spLocks noChangeArrowheads="1"/>
          </p:cNvSpPr>
          <p:nvPr/>
        </p:nvSpPr>
        <p:spPr bwMode="auto">
          <a:xfrm>
            <a:off x="5605463" y="1828800"/>
            <a:ext cx="1143000" cy="304800"/>
          </a:xfrm>
          <a:prstGeom prst="rect">
            <a:avLst/>
          </a:prstGeom>
          <a:ln>
            <a:solidFill>
              <a:srgbClr val="FF0000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900" dirty="0" smtClean="0"/>
              <a:t>Pay  §1.17(p) fee ($180)</a:t>
            </a:r>
            <a:endParaRPr lang="en-US" altLang="en-US" sz="900" dirty="0"/>
          </a:p>
        </p:txBody>
      </p:sp>
      <p:sp>
        <p:nvSpPr>
          <p:cNvPr id="398" name="Rectangle 20"/>
          <p:cNvSpPr>
            <a:spLocks noChangeArrowheads="1"/>
          </p:cNvSpPr>
          <p:nvPr/>
        </p:nvSpPr>
        <p:spPr bwMode="auto">
          <a:xfrm>
            <a:off x="5597525" y="1387475"/>
            <a:ext cx="1143000" cy="228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900" dirty="0" smtClean="0"/>
              <a:t>IDS Considered</a:t>
            </a:r>
          </a:p>
        </p:txBody>
      </p:sp>
      <p:cxnSp>
        <p:nvCxnSpPr>
          <p:cNvPr id="2133" name="Straight Arrow Connector 398"/>
          <p:cNvCxnSpPr>
            <a:cxnSpLocks noChangeShapeType="1"/>
            <a:stCxn id="397" idx="0"/>
            <a:endCxn id="398" idx="2"/>
          </p:cNvCxnSpPr>
          <p:nvPr/>
        </p:nvCxnSpPr>
        <p:spPr bwMode="auto">
          <a:xfrm flipH="1" flipV="1">
            <a:off x="6169025" y="1616075"/>
            <a:ext cx="7938" cy="2127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34" name="Elbow Connector 362"/>
          <p:cNvCxnSpPr>
            <a:cxnSpLocks noChangeShapeType="1"/>
            <a:stCxn id="2068" idx="3"/>
            <a:endCxn id="397" idx="2"/>
          </p:cNvCxnSpPr>
          <p:nvPr/>
        </p:nvCxnSpPr>
        <p:spPr bwMode="auto">
          <a:xfrm flipV="1">
            <a:off x="5988050" y="2133600"/>
            <a:ext cx="188913" cy="62865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35" name="Text Box 53"/>
          <p:cNvSpPr txBox="1">
            <a:spLocks noChangeArrowheads="1"/>
          </p:cNvSpPr>
          <p:nvPr/>
        </p:nvSpPr>
        <p:spPr bwMode="auto">
          <a:xfrm>
            <a:off x="5900738" y="2559050"/>
            <a:ext cx="352425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NO</a:t>
            </a:r>
          </a:p>
        </p:txBody>
      </p:sp>
      <p:sp>
        <p:nvSpPr>
          <p:cNvPr id="88" name="Text Box 55"/>
          <p:cNvSpPr txBox="1">
            <a:spLocks noChangeArrowheads="1"/>
          </p:cNvSpPr>
          <p:nvPr/>
        </p:nvSpPr>
        <p:spPr bwMode="auto">
          <a:xfrm>
            <a:off x="942975" y="1870076"/>
            <a:ext cx="3492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 dirty="0"/>
              <a:t>NO</a:t>
            </a:r>
          </a:p>
        </p:txBody>
      </p:sp>
      <p:sp>
        <p:nvSpPr>
          <p:cNvPr id="89" name="Rectangle 10"/>
          <p:cNvSpPr>
            <a:spLocks noChangeArrowheads="1"/>
          </p:cNvSpPr>
          <p:nvPr/>
        </p:nvSpPr>
        <p:spPr bwMode="auto">
          <a:xfrm>
            <a:off x="407408" y="139680"/>
            <a:ext cx="1026319" cy="356244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1200" dirty="0" smtClean="0">
                <a:solidFill>
                  <a:schemeClr val="bg1"/>
                </a:solidFill>
              </a:rPr>
              <a:t>START HERE</a:t>
            </a:r>
          </a:p>
        </p:txBody>
      </p:sp>
      <p:cxnSp>
        <p:nvCxnSpPr>
          <p:cNvPr id="90" name="Straight Arrow Connector 254"/>
          <p:cNvCxnSpPr>
            <a:cxnSpLocks noChangeShapeType="1"/>
            <a:stCxn id="89" idx="2"/>
            <a:endCxn id="2055" idx="0"/>
          </p:cNvCxnSpPr>
          <p:nvPr/>
        </p:nvCxnSpPr>
        <p:spPr bwMode="auto">
          <a:xfrm>
            <a:off x="920568" y="495924"/>
            <a:ext cx="13676" cy="178764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9525">
          <a:solidFill>
            <a:schemeClr val="tx1"/>
          </a:solidFill>
          <a:miter lim="800000"/>
          <a:headEnd/>
          <a:tailEnd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none" anchor="ctr"/>
      <a:lstStyle>
        <a:defPPr algn="ctr">
          <a:defRPr sz="900" dirty="0" smtClean="0"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334</Words>
  <Application>Microsoft Office PowerPoint</Application>
  <PresentationFormat>Letter Paper (8.5x11 in)</PresentationFormat>
  <Paragraphs>106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Times New Roman</vt:lpstr>
      <vt:lpstr>Office Theme</vt:lpstr>
      <vt:lpstr>PowerPoint Presentation</vt:lpstr>
    </vt:vector>
  </TitlesOfParts>
  <Company>slwk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Case Status</dc:creator>
  <cp:lastModifiedBy>Patrick McNally</cp:lastModifiedBy>
  <cp:revision>29</cp:revision>
  <cp:lastPrinted>2014-06-19T22:10:00Z</cp:lastPrinted>
  <dcterms:created xsi:type="dcterms:W3CDTF">1998-12-29T22:05:40Z</dcterms:created>
  <dcterms:modified xsi:type="dcterms:W3CDTF">2017-03-15T21:01:28Z</dcterms:modified>
</cp:coreProperties>
</file>